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4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E4B7EE-C8A0-8E14-843F-B2FBAF9E0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33528E-FF13-9DDD-1968-9A947C7AE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8909B7-3D9D-518D-1FF4-46D94B61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2FED8C-4382-C82D-57A4-15652946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B1712D-6B03-1566-7E7E-68DDCCA0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395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9BB2AF-878B-66AC-CDD4-6AAB6BD1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424640-6B7F-9DF7-8A2C-9E2DC249E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60EE0C-4B4D-941E-F307-3DE41E3C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5D177B-E1F5-C422-C533-93D8D25C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8A7516-FAD1-217F-C036-14E2C86F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21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864A9-B553-8C4A-5F02-FD8A17A8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9A647F-3534-D3A6-3A7C-2B40A26B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03142A-0D65-5B0D-8FDE-70192D490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D6D997-EE7F-B4AD-4C97-43A4852CD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8F07AC-2690-781C-2848-3ECC089F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112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3DD77-F379-3EE8-E2E8-6F55A4F0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4C2259-3FFC-BC46-6521-AB4D64D8F9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739B4B5-1A0C-7F7A-9C60-6AEDB9A35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129020B-86B4-423B-5A98-FB30E3DB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3D28FA-76F5-25CF-E403-E48B1CF9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4200EBF-48C9-F951-C5C5-F4BB9C01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25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A7AAE5-2C15-CA0E-1706-0C279959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E410E5-99D9-D826-6339-F41BE1F2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11179D0-DB08-E3D9-BDE9-319A8098D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ADCE358-35A7-3423-411D-4EA70B08C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0CC56C-5564-C63D-AE28-A6CB3F69C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ABACA33-CF12-E913-19DD-B10C5C8D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DEBAD0-C021-FD07-CDF0-A24B206C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B232FD0-C7A3-72E0-6964-E8F8AFD0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973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9C754A-3304-422A-8C26-7FB3511B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0601C82-C755-DF52-92B2-D5B7C4AE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F526C5-7CAF-141F-9BE6-3AF6C1AF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B3D7F1-96EB-C76C-4D15-48C79F0C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025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4C0A711-DBBF-8BCC-63CE-9087F76A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CE17349-05DD-397F-AA0B-449529FD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4D0157F-331C-5EF2-2ABA-040E9D56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200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7643BC-59B2-13BD-2A9B-AF8A7F35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A931AB-B644-AC3D-5376-D9F4249F9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8922DB-DC31-3DB8-4357-5E46AF275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2093B5-86CB-9446-69E8-D0B59C5A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B2E419-A027-BDF0-B7E3-A1B0A24B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7B98B6-EDB6-5D75-353B-535E4C9C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303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E4C62-0FC4-BE1D-5A74-39476E2B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BC94C38-B74A-94A8-E956-7719D0813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C6C06F4-B3F9-BA95-3880-7F45E9176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49A8A80-7709-556C-DF10-56BB1CFA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B34DEA-B9C6-B0F7-C28B-2C8738E7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26AE58D-40F5-0F7F-5461-BF7D2A16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60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FBF9F9-4091-4307-E4EC-0C0F0993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CC65AF-281A-711B-7A66-1999D1537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F5E365-E801-BA36-75BB-70A878D9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2832E7-55C6-BB2A-7AE4-8EA6BF41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B914E3-8B26-5D0C-5646-29310B30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91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E173B35-5CD1-1D87-0D60-9912CFD72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30BAEA-36D5-6DBE-409A-D56D44D5E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26F56E3-8652-8436-7692-944343E9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453E5B-3854-17BF-017A-3F8A1D8F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8DE12A-4FE3-C2DA-FED8-CED8AA91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591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473A91B-0BA0-E2AD-9D5F-7ADB88EB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A9580F-27A0-8EDB-9BF6-5EE102006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A9CD45-8B32-A3E8-B3EC-02D891491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AF5BC-EE60-4E90-B54A-FA2BCD55F15C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A1B89F-4D56-FDC2-FCC0-40CEAC278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AD8572-1578-270F-139A-ACA9230B1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09976-024C-4D87-AA70-D1DFA26E13C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2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27E2D3-EB35-33E0-58E5-0638AA8F707E}"/>
              </a:ext>
            </a:extLst>
          </p:cNvPr>
          <p:cNvSpPr txBox="1"/>
          <p:nvPr/>
        </p:nvSpPr>
        <p:spPr>
          <a:xfrm>
            <a:off x="438150" y="1136650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4D5A9C-1253-3215-F91A-9B5D52C207DF}"/>
              </a:ext>
            </a:extLst>
          </p:cNvPr>
          <p:cNvSpPr txBox="1"/>
          <p:nvPr/>
        </p:nvSpPr>
        <p:spPr>
          <a:xfrm>
            <a:off x="2559050" y="1136650"/>
            <a:ext cx="60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gNB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373A64-49A8-FA1B-957C-C06DC2733392}"/>
              </a:ext>
            </a:extLst>
          </p:cNvPr>
          <p:cNvSpPr txBox="1"/>
          <p:nvPr/>
        </p:nvSpPr>
        <p:spPr>
          <a:xfrm>
            <a:off x="892175" y="1667560"/>
            <a:ext cx="1968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SR (Scheduling </a:t>
            </a:r>
            <a:r>
              <a:rPr lang="it-IT" sz="1200" dirty="0" err="1"/>
              <a:t>Request</a:t>
            </a:r>
            <a:r>
              <a:rPr lang="it-IT" sz="1200" dirty="0"/>
              <a:t>)</a:t>
            </a: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63431A8F-DF5C-927E-C5F2-8ADE6D4E8FBC}"/>
              </a:ext>
            </a:extLst>
          </p:cNvPr>
          <p:cNvCxnSpPr>
            <a:stCxn id="6" idx="2"/>
          </p:cNvCxnSpPr>
          <p:nvPr/>
        </p:nvCxnSpPr>
        <p:spPr>
          <a:xfrm flipH="1">
            <a:off x="666750" y="1505982"/>
            <a:ext cx="9525" cy="4196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7DF77E31-5021-E52A-F6C7-C195E1AAFC57}"/>
              </a:ext>
            </a:extLst>
          </p:cNvPr>
          <p:cNvCxnSpPr>
            <a:stCxn id="7" idx="2"/>
          </p:cNvCxnSpPr>
          <p:nvPr/>
        </p:nvCxnSpPr>
        <p:spPr>
          <a:xfrm>
            <a:off x="2860675" y="1505982"/>
            <a:ext cx="0" cy="4196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D699775A-2B2B-29C9-27D9-EE35661561A4}"/>
              </a:ext>
            </a:extLst>
          </p:cNvPr>
          <p:cNvCxnSpPr/>
          <p:nvPr/>
        </p:nvCxnSpPr>
        <p:spPr>
          <a:xfrm>
            <a:off x="762000" y="1993900"/>
            <a:ext cx="195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B80E5B64-1C7C-8FA1-1B55-EE27A4BE0475}"/>
              </a:ext>
            </a:extLst>
          </p:cNvPr>
          <p:cNvCxnSpPr/>
          <p:nvPr/>
        </p:nvCxnSpPr>
        <p:spPr>
          <a:xfrm flipH="1">
            <a:off x="736600" y="3419475"/>
            <a:ext cx="2038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9F87A9D1-E6B6-EE53-BF8E-31C875B92191}"/>
              </a:ext>
            </a:extLst>
          </p:cNvPr>
          <p:cNvCxnSpPr/>
          <p:nvPr/>
        </p:nvCxnSpPr>
        <p:spPr>
          <a:xfrm>
            <a:off x="762000" y="4883150"/>
            <a:ext cx="2012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0BD5FDC4-6EC6-F0F4-A632-9A0C7D1E3D8D}"/>
              </a:ext>
            </a:extLst>
          </p:cNvPr>
          <p:cNvSpPr txBox="1"/>
          <p:nvPr/>
        </p:nvSpPr>
        <p:spPr>
          <a:xfrm>
            <a:off x="898525" y="3070393"/>
            <a:ext cx="1968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UL Grant (DCI 0_1)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2B3D5D0-4200-82DD-1DC8-A6E6F424D8A1}"/>
              </a:ext>
            </a:extLst>
          </p:cNvPr>
          <p:cNvSpPr txBox="1"/>
          <p:nvPr/>
        </p:nvSpPr>
        <p:spPr>
          <a:xfrm>
            <a:off x="1038225" y="4549427"/>
            <a:ext cx="1365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PUSCH (Data)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A0675CF-53D2-88EF-6922-5DB71D4FA335}"/>
              </a:ext>
            </a:extLst>
          </p:cNvPr>
          <p:cNvSpPr txBox="1"/>
          <p:nvPr/>
        </p:nvSpPr>
        <p:spPr>
          <a:xfrm>
            <a:off x="2860676" y="1795935"/>
            <a:ext cx="138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UE </a:t>
            </a:r>
            <a:r>
              <a:rPr lang="it-IT" sz="1200" dirty="0" err="1"/>
              <a:t>requests</a:t>
            </a:r>
            <a:r>
              <a:rPr lang="it-IT" sz="1200" dirty="0"/>
              <a:t> </a:t>
            </a:r>
            <a:r>
              <a:rPr lang="it-IT" sz="1200" dirty="0" err="1"/>
              <a:t>grant</a:t>
            </a:r>
            <a:endParaRPr lang="it-IT" sz="1200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C3A37E9-C737-FF45-31FC-074DED5E46F3}"/>
              </a:ext>
            </a:extLst>
          </p:cNvPr>
          <p:cNvSpPr txBox="1"/>
          <p:nvPr/>
        </p:nvSpPr>
        <p:spPr>
          <a:xfrm>
            <a:off x="2894013" y="3280975"/>
            <a:ext cx="1104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/>
              <a:t>gNB</a:t>
            </a:r>
            <a:r>
              <a:rPr lang="it-IT" sz="1200" dirty="0"/>
              <a:t> </a:t>
            </a:r>
            <a:r>
              <a:rPr lang="it-IT" sz="1200" dirty="0" err="1"/>
              <a:t>allocates</a:t>
            </a:r>
            <a:r>
              <a:rPr lang="it-IT" sz="1200" dirty="0"/>
              <a:t> 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F4CD15F-750C-A457-32A2-593DAFA4764D}"/>
              </a:ext>
            </a:extLst>
          </p:cNvPr>
          <p:cNvSpPr txBox="1"/>
          <p:nvPr/>
        </p:nvSpPr>
        <p:spPr>
          <a:xfrm>
            <a:off x="2860676" y="4708602"/>
            <a:ext cx="1057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UE </a:t>
            </a:r>
            <a:r>
              <a:rPr lang="it-IT" sz="1200" dirty="0" err="1"/>
              <a:t>transmits</a:t>
            </a:r>
            <a:r>
              <a:rPr lang="it-IT" sz="1200" dirty="0"/>
              <a:t> 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8F297AD-6B8A-D52B-AE35-9771B4430099}"/>
              </a:ext>
            </a:extLst>
          </p:cNvPr>
          <p:cNvSpPr txBox="1"/>
          <p:nvPr/>
        </p:nvSpPr>
        <p:spPr>
          <a:xfrm>
            <a:off x="1768475" y="220147"/>
            <a:ext cx="744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STANDARD GRANT-BASED SCHEDULING   vs  GRANT-FREE SCHEDULING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6046374-3E28-773F-F332-9935941A133F}"/>
              </a:ext>
            </a:extLst>
          </p:cNvPr>
          <p:cNvSpPr txBox="1"/>
          <p:nvPr/>
        </p:nvSpPr>
        <p:spPr>
          <a:xfrm>
            <a:off x="7550150" y="1175266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UE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98FBEF0-F196-9489-FB82-A395A66EBB10}"/>
              </a:ext>
            </a:extLst>
          </p:cNvPr>
          <p:cNvSpPr txBox="1"/>
          <p:nvPr/>
        </p:nvSpPr>
        <p:spPr>
          <a:xfrm>
            <a:off x="9671050" y="1175266"/>
            <a:ext cx="60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gNB</a:t>
            </a:r>
            <a:endParaRPr lang="it-IT" dirty="0"/>
          </a:p>
        </p:txBody>
      </p: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ECBD656E-CE54-B787-BAE3-7B79BFB1E736}"/>
              </a:ext>
            </a:extLst>
          </p:cNvPr>
          <p:cNvCxnSpPr>
            <a:stCxn id="32" idx="2"/>
          </p:cNvCxnSpPr>
          <p:nvPr/>
        </p:nvCxnSpPr>
        <p:spPr>
          <a:xfrm flipH="1">
            <a:off x="7778750" y="1544598"/>
            <a:ext cx="9525" cy="4196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E5F5C1DC-2552-B4B0-9EDE-9633B25BF804}"/>
              </a:ext>
            </a:extLst>
          </p:cNvPr>
          <p:cNvCxnSpPr>
            <a:stCxn id="33" idx="2"/>
          </p:cNvCxnSpPr>
          <p:nvPr/>
        </p:nvCxnSpPr>
        <p:spPr>
          <a:xfrm>
            <a:off x="9972675" y="1544598"/>
            <a:ext cx="0" cy="41963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8AA60407-D797-EFD8-CF78-8D74E19B4BB6}"/>
              </a:ext>
            </a:extLst>
          </p:cNvPr>
          <p:cNvCxnSpPr/>
          <p:nvPr/>
        </p:nvCxnSpPr>
        <p:spPr>
          <a:xfrm>
            <a:off x="7874000" y="4921766"/>
            <a:ext cx="2012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4055119-78A1-E8E5-D790-E70C757086BA}"/>
              </a:ext>
            </a:extLst>
          </p:cNvPr>
          <p:cNvSpPr txBox="1"/>
          <p:nvPr/>
        </p:nvSpPr>
        <p:spPr>
          <a:xfrm>
            <a:off x="8150225" y="4588043"/>
            <a:ext cx="1365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PUSCH (Data)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86E8376B-F4FD-52AD-4585-8D987AC1A04E}"/>
              </a:ext>
            </a:extLst>
          </p:cNvPr>
          <p:cNvSpPr txBox="1"/>
          <p:nvPr/>
        </p:nvSpPr>
        <p:spPr>
          <a:xfrm>
            <a:off x="9972676" y="4747218"/>
            <a:ext cx="1057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UE </a:t>
            </a:r>
            <a:r>
              <a:rPr lang="it-IT" sz="1200" dirty="0" err="1"/>
              <a:t>transmits</a:t>
            </a:r>
            <a:r>
              <a:rPr lang="it-IT" sz="1200" dirty="0"/>
              <a:t> 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3FBD0BF8-CCA7-B55B-E7D8-29706562183C}"/>
              </a:ext>
            </a:extLst>
          </p:cNvPr>
          <p:cNvSpPr txBox="1"/>
          <p:nvPr/>
        </p:nvSpPr>
        <p:spPr>
          <a:xfrm>
            <a:off x="6346821" y="1865138"/>
            <a:ext cx="1441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/>
              <a:t>Pre-configured</a:t>
            </a:r>
            <a:r>
              <a:rPr lang="it-IT" sz="1200" dirty="0"/>
              <a:t> </a:t>
            </a:r>
            <a:r>
              <a:rPr lang="it-IT" sz="1200" dirty="0" err="1"/>
              <a:t>resources</a:t>
            </a:r>
            <a:r>
              <a:rPr lang="it-IT" sz="1200" dirty="0"/>
              <a:t> </a:t>
            </a:r>
            <a:r>
              <a:rPr lang="it-IT" sz="1200" dirty="0" err="1"/>
              <a:t>known</a:t>
            </a:r>
            <a:endParaRPr lang="it-IT" sz="1200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0BC50F8A-6078-177A-62E8-2B6AD341D0BF}"/>
              </a:ext>
            </a:extLst>
          </p:cNvPr>
          <p:cNvSpPr txBox="1"/>
          <p:nvPr/>
        </p:nvSpPr>
        <p:spPr>
          <a:xfrm>
            <a:off x="10058401" y="1981412"/>
            <a:ext cx="1408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 err="1"/>
              <a:t>Listening</a:t>
            </a:r>
            <a:r>
              <a:rPr lang="it-IT" sz="1200" dirty="0"/>
              <a:t> on </a:t>
            </a:r>
            <a:r>
              <a:rPr lang="it-IT" sz="1200" dirty="0" err="1"/>
              <a:t>configured</a:t>
            </a:r>
            <a:r>
              <a:rPr lang="it-IT" sz="1200" dirty="0"/>
              <a:t> </a:t>
            </a:r>
            <a:r>
              <a:rPr lang="it-IT" sz="1200" dirty="0" err="1"/>
              <a:t>resources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01236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D5C7C3-9F98-F1F4-58B8-AF67D06C4E6B}"/>
              </a:ext>
            </a:extLst>
          </p:cNvPr>
          <p:cNvSpPr txBox="1"/>
          <p:nvPr/>
        </p:nvSpPr>
        <p:spPr>
          <a:xfrm>
            <a:off x="3700818" y="115532"/>
            <a:ext cx="4790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GRANT-FREE SCHEDULING ALGORITHM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D06C7E-5037-7126-9FD4-FA95C664516C}"/>
              </a:ext>
            </a:extLst>
          </p:cNvPr>
          <p:cNvSpPr txBox="1"/>
          <p:nvPr/>
        </p:nvSpPr>
        <p:spPr>
          <a:xfrm>
            <a:off x="1346200" y="933450"/>
            <a:ext cx="147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9EA30-49F0-5701-DCF0-203257D13BC3}"/>
              </a:ext>
            </a:extLst>
          </p:cNvPr>
          <p:cNvSpPr txBox="1"/>
          <p:nvPr/>
        </p:nvSpPr>
        <p:spPr>
          <a:xfrm>
            <a:off x="9664700" y="990600"/>
            <a:ext cx="202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GNB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8ABD824-9FDB-78D6-951B-E328C63EB907}"/>
              </a:ext>
            </a:extLst>
          </p:cNvPr>
          <p:cNvSpPr txBox="1"/>
          <p:nvPr/>
        </p:nvSpPr>
        <p:spPr>
          <a:xfrm>
            <a:off x="3543300" y="1118116"/>
            <a:ext cx="4790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any transmission happens, both UE and </a:t>
            </a:r>
            <a:r>
              <a:rPr lang="en-US" dirty="0" err="1"/>
              <a:t>gNB</a:t>
            </a:r>
            <a:r>
              <a:rPr lang="en-US" dirty="0"/>
              <a:t> must have </a:t>
            </a:r>
            <a:r>
              <a:rPr lang="en-US" b="1" dirty="0"/>
              <a:t>matching configurations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2A6B6DE-D87F-F869-F184-6D41F86EC275}"/>
              </a:ext>
            </a:extLst>
          </p:cNvPr>
          <p:cNvSpPr txBox="1"/>
          <p:nvPr/>
        </p:nvSpPr>
        <p:spPr>
          <a:xfrm>
            <a:off x="1581150" y="1981200"/>
            <a:ext cx="90297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WHEN to </a:t>
            </a:r>
            <a:r>
              <a:rPr lang="it-IT" dirty="0" err="1"/>
              <a:t>transmit</a:t>
            </a:r>
            <a:r>
              <a:rPr lang="it-IT" dirty="0"/>
              <a:t>:                                 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periodicity</a:t>
            </a:r>
            <a:r>
              <a:rPr lang="it-IT" dirty="0"/>
              <a:t> = 4 slots    (</a:t>
            </a:r>
            <a:r>
              <a:rPr lang="it-IT" dirty="0" err="1"/>
              <a:t>transmit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4 slots)                   </a:t>
            </a:r>
          </a:p>
          <a:p>
            <a:r>
              <a:rPr lang="it-IT" dirty="0"/>
              <a:t>   • offset = 0               (</a:t>
            </a:r>
            <a:r>
              <a:rPr lang="it-IT" dirty="0" err="1"/>
              <a:t>starting</a:t>
            </a:r>
            <a:r>
              <a:rPr lang="it-IT" dirty="0"/>
              <a:t> from slot 0)                     </a:t>
            </a:r>
          </a:p>
          <a:p>
            <a:r>
              <a:rPr lang="it-IT" dirty="0"/>
              <a:t>                                                                         </a:t>
            </a:r>
          </a:p>
          <a:p>
            <a:r>
              <a:rPr lang="it-IT" dirty="0"/>
              <a:t>   WHERE in frequency:                                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rb_start</a:t>
            </a:r>
            <a:r>
              <a:rPr lang="it-IT" dirty="0"/>
              <a:t> = 0             (start </a:t>
            </a:r>
            <a:r>
              <a:rPr lang="it-IT" dirty="0" err="1"/>
              <a:t>at</a:t>
            </a:r>
            <a:r>
              <a:rPr lang="it-IT" dirty="0"/>
              <a:t> PRB 0)        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rb_size</a:t>
            </a:r>
            <a:r>
              <a:rPr lang="it-IT" dirty="0"/>
              <a:t> = 10             (use 10 </a:t>
            </a:r>
            <a:r>
              <a:rPr lang="it-IT" dirty="0" err="1"/>
              <a:t>PRBs</a:t>
            </a:r>
            <a:r>
              <a:rPr lang="it-IT" dirty="0"/>
              <a:t>)                              </a:t>
            </a:r>
          </a:p>
          <a:p>
            <a:r>
              <a:rPr lang="it-IT" dirty="0"/>
              <a:t>                                                                         </a:t>
            </a:r>
          </a:p>
          <a:p>
            <a:r>
              <a:rPr lang="it-IT" dirty="0"/>
              <a:t>   WHERE in time (</a:t>
            </a:r>
            <a:r>
              <a:rPr lang="it-IT" dirty="0" err="1"/>
              <a:t>within</a:t>
            </a:r>
            <a:r>
              <a:rPr lang="it-IT" dirty="0"/>
              <a:t> slot):                       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start_symbol</a:t>
            </a:r>
            <a:r>
              <a:rPr lang="it-IT" dirty="0"/>
              <a:t> = 2         (start </a:t>
            </a:r>
            <a:r>
              <a:rPr lang="it-IT" dirty="0" err="1"/>
              <a:t>at</a:t>
            </a:r>
            <a:r>
              <a:rPr lang="it-IT" dirty="0"/>
              <a:t> OFDM symbol 2)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nr_of_symbols</a:t>
            </a:r>
            <a:r>
              <a:rPr lang="it-IT" dirty="0"/>
              <a:t> = 12       (use 12 symbols)                           </a:t>
            </a:r>
          </a:p>
          <a:p>
            <a:r>
              <a:rPr lang="it-IT" dirty="0"/>
              <a:t>                                                                         </a:t>
            </a:r>
          </a:p>
          <a:p>
            <a:r>
              <a:rPr lang="it-IT" dirty="0"/>
              <a:t>   HOW to </a:t>
            </a:r>
            <a:r>
              <a:rPr lang="it-IT" dirty="0" err="1"/>
              <a:t>transmit</a:t>
            </a:r>
            <a:r>
              <a:rPr lang="it-IT" dirty="0"/>
              <a:t>:                                                      </a:t>
            </a:r>
          </a:p>
          <a:p>
            <a:r>
              <a:rPr lang="it-IT" dirty="0"/>
              <a:t>   • </a:t>
            </a:r>
            <a:r>
              <a:rPr lang="it-IT" dirty="0" err="1"/>
              <a:t>mcs</a:t>
            </a:r>
            <a:r>
              <a:rPr lang="it-IT" dirty="0"/>
              <a:t> = 9                  (</a:t>
            </a:r>
            <a:r>
              <a:rPr lang="it-IT" dirty="0" err="1"/>
              <a:t>modulation</a:t>
            </a:r>
            <a:r>
              <a:rPr lang="it-IT" dirty="0"/>
              <a:t> and coding </a:t>
            </a:r>
            <a:r>
              <a:rPr lang="it-IT" dirty="0" err="1"/>
              <a:t>scheme</a:t>
            </a:r>
            <a:r>
              <a:rPr lang="it-IT" dirty="0"/>
              <a:t>)             </a:t>
            </a:r>
          </a:p>
          <a:p>
            <a:r>
              <a:rPr lang="it-IT" dirty="0"/>
              <a:t>   • </a:t>
            </a:r>
            <a:r>
              <a:rPr lang="it-IT" dirty="0" err="1"/>
              <a:t>harq_process_id</a:t>
            </a:r>
            <a:r>
              <a:rPr lang="it-IT" dirty="0"/>
              <a:t> = 0      (</a:t>
            </a:r>
            <a:r>
              <a:rPr lang="it-IT" dirty="0" err="1"/>
              <a:t>dedicated</a:t>
            </a:r>
            <a:r>
              <a:rPr lang="it-IT" dirty="0"/>
              <a:t> HARQ </a:t>
            </a:r>
            <a:r>
              <a:rPr lang="it-IT" dirty="0" err="1"/>
              <a:t>process</a:t>
            </a:r>
            <a:r>
              <a:rPr lang="it-IT" dirty="0"/>
              <a:t>)                   </a:t>
            </a:r>
          </a:p>
          <a:p>
            <a:r>
              <a:rPr lang="it-IT" dirty="0"/>
              <a:t>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3647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5AA02452-653B-0C61-B256-91558BE17501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UE Transmission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6297A4-3270-74AB-F34F-359F75E635B3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GF Occasion Detection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D5E3A8-7109-802E-A7EE-3C0AFBD9187F}"/>
              </a:ext>
            </a:extLst>
          </p:cNvPr>
          <p:cNvSpPr txBox="1"/>
          <p:nvPr/>
        </p:nvSpPr>
        <p:spPr>
          <a:xfrm>
            <a:off x="660400" y="12875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Every slot, the UE checks: </a:t>
            </a:r>
            <a:r>
              <a:rPr lang="en-US" b="1" dirty="0"/>
              <a:t>"Is this a Grant-Free occasion?"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FC2F8E-7639-85A7-7B0B-B126262E98D3}"/>
              </a:ext>
            </a:extLst>
          </p:cNvPr>
          <p:cNvSpPr txBox="1"/>
          <p:nvPr/>
        </p:nvSpPr>
        <p:spPr>
          <a:xfrm>
            <a:off x="1866900" y="18751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Formula:  (</a:t>
            </a:r>
            <a:r>
              <a:rPr lang="it-IT" dirty="0" err="1"/>
              <a:t>absolute_slot</a:t>
            </a:r>
            <a:r>
              <a:rPr lang="it-IT" dirty="0"/>
              <a:t> - offset) % </a:t>
            </a:r>
            <a:r>
              <a:rPr lang="it-IT" dirty="0" err="1"/>
              <a:t>periodicity</a:t>
            </a:r>
            <a:r>
              <a:rPr lang="it-IT" dirty="0"/>
              <a:t> == 0</a:t>
            </a:r>
          </a:p>
          <a:p>
            <a:endParaRPr lang="it-IT" dirty="0"/>
          </a:p>
          <a:p>
            <a:r>
              <a:rPr lang="it-IT" dirty="0" err="1"/>
              <a:t>Where</a:t>
            </a:r>
            <a:r>
              <a:rPr lang="it-IT" dirty="0"/>
              <a:t>:    </a:t>
            </a:r>
            <a:r>
              <a:rPr lang="it-IT" dirty="0" err="1"/>
              <a:t>absolute_slot</a:t>
            </a:r>
            <a:r>
              <a:rPr lang="it-IT" dirty="0"/>
              <a:t> = frame × </a:t>
            </a:r>
            <a:r>
              <a:rPr lang="it-IT" dirty="0" err="1"/>
              <a:t>slots_per_frame</a:t>
            </a:r>
            <a:r>
              <a:rPr lang="it-IT" dirty="0"/>
              <a:t> + slot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D0E0431-42AD-C9F4-12D0-0CAAA91D50FD}"/>
              </a:ext>
            </a:extLst>
          </p:cNvPr>
          <p:cNvSpPr txBox="1"/>
          <p:nvPr/>
        </p:nvSpPr>
        <p:spPr>
          <a:xfrm>
            <a:off x="920750" y="322768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Calculation</a:t>
            </a:r>
            <a:r>
              <a:rPr lang="it-IT" dirty="0"/>
              <a:t>: </a:t>
            </a:r>
          </a:p>
          <a:p>
            <a:r>
              <a:rPr lang="it-IT" dirty="0"/>
              <a:t>	Slot 0: (0 - 0) % 4 = 0 ✓ GF </a:t>
            </a:r>
            <a:r>
              <a:rPr lang="it-IT" dirty="0" err="1"/>
              <a:t>occasion</a:t>
            </a:r>
            <a:r>
              <a:rPr lang="it-IT" dirty="0"/>
              <a:t> </a:t>
            </a:r>
          </a:p>
          <a:p>
            <a:r>
              <a:rPr lang="it-IT" dirty="0"/>
              <a:t>	Slot 1: (1 - 0) % 4 = 1 ✗ Not GF </a:t>
            </a:r>
          </a:p>
          <a:p>
            <a:r>
              <a:rPr lang="it-IT" dirty="0"/>
              <a:t>	Slot 2: (2 - 0) % 4 = 2 ✗ Not GF </a:t>
            </a:r>
          </a:p>
          <a:p>
            <a:r>
              <a:rPr lang="it-IT" dirty="0"/>
              <a:t>	Slot 3: (3 - 0) % 4 = 3 ✗ Not GF </a:t>
            </a:r>
          </a:p>
          <a:p>
            <a:r>
              <a:rPr lang="it-IT" dirty="0"/>
              <a:t>	Slot 4: (4 - 0) % 4 = 0 ✓ GF </a:t>
            </a:r>
            <a:r>
              <a:rPr lang="it-IT" dirty="0" err="1"/>
              <a:t>occasion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872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E9E82-9F82-38CD-29A1-FD35EB62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EFE8D1-052C-5C26-AB0C-33E4FF344C5F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UE Transmission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AFCBEF-0F8B-6F22-4ABA-5FF803B1D1A1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Check </a:t>
            </a:r>
            <a:r>
              <a:rPr lang="it-IT" dirty="0" err="1"/>
              <a:t>Pending</a:t>
            </a:r>
            <a:r>
              <a:rPr lang="it-IT" dirty="0"/>
              <a:t> Data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684E865-90E1-3067-E83D-6C674514330B}"/>
              </a:ext>
            </a:extLst>
          </p:cNvPr>
          <p:cNvSpPr txBox="1"/>
          <p:nvPr/>
        </p:nvSpPr>
        <p:spPr>
          <a:xfrm>
            <a:off x="660400" y="1287502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it's a GF occasion, the UE checks: </a:t>
            </a:r>
            <a:r>
              <a:rPr lang="en-US" b="1" dirty="0"/>
              <a:t>"Do I have data to send?"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2D31E7-2E67-888F-1C11-00472E4FC443}"/>
              </a:ext>
            </a:extLst>
          </p:cNvPr>
          <p:cNvSpPr txBox="1"/>
          <p:nvPr/>
        </p:nvSpPr>
        <p:spPr>
          <a:xfrm>
            <a:off x="1644650" y="1823621"/>
            <a:ext cx="78676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RLC Buffers:                                                           </a:t>
            </a:r>
          </a:p>
          <a:p>
            <a:r>
              <a:rPr lang="it-IT" dirty="0"/>
              <a:t>	LCID 1 (SRB) → 0 bytes                                             </a:t>
            </a:r>
          </a:p>
          <a:p>
            <a:r>
              <a:rPr lang="it-IT" dirty="0"/>
              <a:t>	LCID 4 (DRB) → 500 bytes</a:t>
            </a:r>
          </a:p>
          <a:p>
            <a:r>
              <a:rPr lang="it-IT" dirty="0"/>
              <a:t>	LCID 5 (DRB) → 200 bytes 		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/>
              <a:t>Total: 700 bytes </a:t>
            </a:r>
            <a:r>
              <a:rPr lang="it-IT" dirty="0" err="1"/>
              <a:t>pending</a:t>
            </a:r>
            <a:r>
              <a:rPr lang="it-IT" dirty="0"/>
              <a:t>          </a:t>
            </a:r>
          </a:p>
          <a:p>
            <a:r>
              <a:rPr lang="it-IT" dirty="0"/>
              <a:t>	LCID 6 (DRB) → 0 bytes                                          </a:t>
            </a:r>
          </a:p>
          <a:p>
            <a:r>
              <a:rPr lang="it-IT" dirty="0"/>
              <a:t>                                                                       </a:t>
            </a:r>
          </a:p>
          <a:p>
            <a:r>
              <a:rPr lang="it-IT" dirty="0"/>
              <a:t>  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total</a:t>
            </a:r>
            <a:r>
              <a:rPr lang="it-IT" dirty="0"/>
              <a:t> &gt; 0 → </a:t>
            </a:r>
            <a:r>
              <a:rPr lang="it-IT" dirty="0" err="1"/>
              <a:t>Proceed</a:t>
            </a:r>
            <a:r>
              <a:rPr lang="it-IT" dirty="0"/>
              <a:t> to TX</a:t>
            </a:r>
          </a:p>
          <a:p>
            <a:r>
              <a:rPr lang="it-IT" dirty="0"/>
              <a:t>  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total</a:t>
            </a:r>
            <a:r>
              <a:rPr lang="it-IT" dirty="0"/>
              <a:t> = 0 → Skip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occasion</a:t>
            </a:r>
            <a:r>
              <a:rPr lang="it-IT" dirty="0"/>
              <a:t> (or </a:t>
            </a:r>
            <a:r>
              <a:rPr lang="it-IT" dirty="0" err="1"/>
              <a:t>send</a:t>
            </a:r>
            <a:r>
              <a:rPr lang="it-IT" dirty="0"/>
              <a:t> BSR </a:t>
            </a:r>
            <a:r>
              <a:rPr lang="it-IT" dirty="0" err="1"/>
              <a:t>only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351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3085-9D6E-6BB8-D34D-9765E5D0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4904A2-9E98-15CB-3C41-D5AD4814CB93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UE Transmission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6B5E54A-F7E2-2703-46EE-685C70DE169C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Build MAC PDU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2CEA710-BDC1-7A15-01A5-3598B6075581}"/>
              </a:ext>
            </a:extLst>
          </p:cNvPr>
          <p:cNvSpPr txBox="1"/>
          <p:nvPr/>
        </p:nvSpPr>
        <p:spPr>
          <a:xfrm>
            <a:off x="660400" y="1287502"/>
            <a:ext cx="836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UE constructs a MAC PDU that fits exactly into the TBS: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925248-61D0-235F-ADBC-606F1F5FAFD1}"/>
              </a:ext>
            </a:extLst>
          </p:cNvPr>
          <p:cNvSpPr txBox="1"/>
          <p:nvPr/>
        </p:nvSpPr>
        <p:spPr>
          <a:xfrm>
            <a:off x="2476500" y="1809750"/>
            <a:ext cx="6381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BSR           │    SDU #1       │    SDU #2       │     PADDING</a:t>
            </a:r>
          </a:p>
          <a:p>
            <a:r>
              <a:rPr lang="it-IT" dirty="0"/>
              <a:t>(2 bytes)       (</a:t>
            </a:r>
            <a:r>
              <a:rPr lang="it-IT" dirty="0" err="1"/>
              <a:t>variable</a:t>
            </a:r>
            <a:r>
              <a:rPr lang="it-IT" dirty="0"/>
              <a:t>)          (</a:t>
            </a:r>
            <a:r>
              <a:rPr lang="it-IT" dirty="0" err="1"/>
              <a:t>variable</a:t>
            </a:r>
            <a:r>
              <a:rPr lang="it-IT" dirty="0"/>
              <a:t>)            (</a:t>
            </a:r>
            <a:r>
              <a:rPr lang="it-IT" dirty="0" err="1"/>
              <a:t>fill</a:t>
            </a:r>
            <a:r>
              <a:rPr lang="it-IT" dirty="0"/>
              <a:t> </a:t>
            </a:r>
            <a:r>
              <a:rPr lang="it-IT" dirty="0" err="1"/>
              <a:t>rest</a:t>
            </a:r>
            <a:r>
              <a:rPr lang="it-IT" dirty="0"/>
              <a:t>) 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A37803-F137-C11F-806A-B8B2ADFFB678}"/>
              </a:ext>
            </a:extLst>
          </p:cNvPr>
          <p:cNvSpPr txBox="1"/>
          <p:nvPr/>
        </p:nvSpPr>
        <p:spPr>
          <a:xfrm>
            <a:off x="1003300" y="2933184"/>
            <a:ext cx="7023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BSR (Buffer Status Report):</a:t>
            </a:r>
          </a:p>
          <a:p>
            <a:r>
              <a:rPr lang="it-IT" dirty="0"/>
              <a:t>	- </a:t>
            </a:r>
            <a:r>
              <a:rPr lang="it-IT" dirty="0" err="1"/>
              <a:t>Header</a:t>
            </a:r>
            <a:r>
              <a:rPr lang="it-IT" dirty="0"/>
              <a:t> + Data(</a:t>
            </a:r>
            <a:r>
              <a:rPr lang="en-US" dirty="0"/>
              <a:t>Tells </a:t>
            </a:r>
            <a:r>
              <a:rPr lang="en-US" dirty="0" err="1"/>
              <a:t>gNB</a:t>
            </a:r>
            <a:r>
              <a:rPr lang="en-US" dirty="0"/>
              <a:t> how much more data UE has</a:t>
            </a:r>
            <a:r>
              <a:rPr lang="it-IT" dirty="0"/>
              <a:t>).</a:t>
            </a:r>
          </a:p>
          <a:p>
            <a:endParaRPr lang="it-IT" dirty="0"/>
          </a:p>
          <a:p>
            <a:r>
              <a:rPr lang="it-IT" dirty="0"/>
              <a:t>SDU (Service Data Unit):</a:t>
            </a:r>
          </a:p>
          <a:p>
            <a:r>
              <a:rPr lang="it-IT" dirty="0"/>
              <a:t>	- </a:t>
            </a:r>
            <a:r>
              <a:rPr lang="en-US" dirty="0"/>
              <a:t>Header + RLC PDU Data(</a:t>
            </a:r>
            <a:r>
              <a:rPr lang="it-IT" dirty="0" err="1"/>
              <a:t>Actual</a:t>
            </a:r>
            <a:r>
              <a:rPr lang="it-IT" dirty="0"/>
              <a:t> user data </a:t>
            </a:r>
            <a:r>
              <a:rPr lang="en-US" dirty="0"/>
              <a:t>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9845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834F-3FD6-D974-16EA-B53C4420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3E6BB4A-8747-18AB-251E-452AD0B62D77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UE Transmission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0CCC217-2D3F-3707-2F49-C561F0A6C2DA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Configure</a:t>
            </a:r>
            <a:r>
              <a:rPr lang="it-IT" dirty="0"/>
              <a:t> PHY (PUSCH PDU)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FE561A-6394-F224-FA48-558C7BB32047}"/>
              </a:ext>
            </a:extLst>
          </p:cNvPr>
          <p:cNvSpPr txBox="1"/>
          <p:nvPr/>
        </p:nvSpPr>
        <p:spPr>
          <a:xfrm>
            <a:off x="660400" y="1287502"/>
            <a:ext cx="836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UE configures the PHY layer with all transmission parameters.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D0DC70C-3AF9-CEFC-6CC8-0EC22007459D}"/>
              </a:ext>
            </a:extLst>
          </p:cNvPr>
          <p:cNvSpPr txBox="1"/>
          <p:nvPr/>
        </p:nvSpPr>
        <p:spPr>
          <a:xfrm>
            <a:off x="1606550" y="2185085"/>
            <a:ext cx="7620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UE configures the PHY layer with all transmission parameters: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Identity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Resource </a:t>
            </a:r>
            <a:r>
              <a:rPr lang="it-IT" dirty="0" err="1"/>
              <a:t>Allocation</a:t>
            </a:r>
            <a:endParaRPr lang="it-IT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 err="1"/>
              <a:t>Modulation</a:t>
            </a:r>
            <a:r>
              <a:rPr lang="it-IT" dirty="0"/>
              <a:t> &amp; Coding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HARQ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DMRS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dirty="0"/>
              <a:t>Payload</a:t>
            </a:r>
          </a:p>
        </p:txBody>
      </p:sp>
    </p:spTree>
    <p:extLst>
      <p:ext uri="{BB962C8B-B14F-4D97-AF65-F5344CB8AC3E}">
        <p14:creationId xmlns:p14="http://schemas.microsoft.com/office/powerpoint/2010/main" val="101610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89DD-B69D-C69E-6906-3033D010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602A3D0-29C5-6307-37D2-C96DB56CFB22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UE Transmission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83F2623-A6EA-DA0E-DB44-A56F630C7D26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PHY </a:t>
            </a:r>
            <a:r>
              <a:rPr lang="it-IT" dirty="0" err="1"/>
              <a:t>Transmits</a:t>
            </a:r>
            <a:r>
              <a:rPr lang="it-IT" dirty="0"/>
              <a:t> PUSCH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267344B-E614-E765-0E30-E18D2C88699B}"/>
              </a:ext>
            </a:extLst>
          </p:cNvPr>
          <p:cNvSpPr txBox="1"/>
          <p:nvPr/>
        </p:nvSpPr>
        <p:spPr>
          <a:xfrm>
            <a:off x="660400" y="1287502"/>
            <a:ext cx="836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PHY layer performs the transmission.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934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5DDC-46C6-7425-4CA4-FEEDFF4A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3132569C-D871-8679-CB28-8CC3C64B126D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gNB</a:t>
            </a:r>
            <a:r>
              <a:rPr lang="it-IT" dirty="0"/>
              <a:t> Reception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FC4F48-E1B0-8312-0399-E60329DBEFC4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PHY </a:t>
            </a:r>
            <a:r>
              <a:rPr lang="it-IT" dirty="0" err="1"/>
              <a:t>Decode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6A1CB8F-EC91-EBFF-57B5-DB5131EC9AB0}"/>
              </a:ext>
            </a:extLst>
          </p:cNvPr>
          <p:cNvSpPr txBox="1"/>
          <p:nvPr/>
        </p:nvSpPr>
        <p:spPr>
          <a:xfrm>
            <a:off x="660400" y="1287502"/>
            <a:ext cx="836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gNB</a:t>
            </a:r>
            <a:r>
              <a:rPr lang="en-US" dirty="0"/>
              <a:t> PHY receives and decodes the signal.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CC5B1A4-61A2-374F-E2FE-8753E550FDBA}"/>
              </a:ext>
            </a:extLst>
          </p:cNvPr>
          <p:cNvSpPr txBox="1"/>
          <p:nvPr/>
        </p:nvSpPr>
        <p:spPr>
          <a:xfrm>
            <a:off x="374650" y="2564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MAC Layer Hook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19A6FF-B08B-4ACD-C527-20825A61CF62}"/>
              </a:ext>
            </a:extLst>
          </p:cNvPr>
          <p:cNvSpPr txBox="1"/>
          <p:nvPr/>
        </p:nvSpPr>
        <p:spPr>
          <a:xfrm>
            <a:off x="660400" y="3059668"/>
            <a:ext cx="10128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gNB</a:t>
            </a:r>
            <a:r>
              <a:rPr lang="en-US" dirty="0"/>
              <a:t> MAC checks if this is a Grant-Free transmission. Otherwise → Normal grant-based PUSCH. Continue with standard processing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79BA7F5-82CE-C955-944E-349213D12C5E}"/>
              </a:ext>
            </a:extLst>
          </p:cNvPr>
          <p:cNvSpPr txBox="1"/>
          <p:nvPr/>
        </p:nvSpPr>
        <p:spPr>
          <a:xfrm>
            <a:off x="374650" y="4501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GF Reception Processing (</a:t>
            </a:r>
            <a:r>
              <a:rPr lang="it-IT" dirty="0" err="1"/>
              <a:t>Problem</a:t>
            </a:r>
            <a:r>
              <a:rPr lang="it-IT" dirty="0"/>
              <a:t>!!!)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FDFBF12-A4A6-D3C4-AD04-71098AC26D78}"/>
              </a:ext>
            </a:extLst>
          </p:cNvPr>
          <p:cNvSpPr txBox="1"/>
          <p:nvPr/>
        </p:nvSpPr>
        <p:spPr>
          <a:xfrm>
            <a:off x="660400" y="5247332"/>
            <a:ext cx="110807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[NR_MAC] </a:t>
            </a:r>
            <a:r>
              <a:rPr lang="it-IT" dirty="0" err="1"/>
              <a:t>Invalid</a:t>
            </a:r>
            <a:r>
              <a:rPr lang="it-IT" dirty="0"/>
              <a:t> PDU in 814.3 for RNTI 988F! </a:t>
            </a:r>
            <a:r>
              <a:rPr lang="it-IT" dirty="0" err="1"/>
              <a:t>mac_subheader_len</a:t>
            </a:r>
            <a:r>
              <a:rPr lang="it-IT" dirty="0"/>
              <a:t>: 1, </a:t>
            </a:r>
            <a:r>
              <a:rPr lang="it-IT" dirty="0" err="1"/>
              <a:t>mac_len</a:t>
            </a:r>
            <a:r>
              <a:rPr lang="it-IT" dirty="0"/>
              <a:t>: 6, </a:t>
            </a:r>
            <a:r>
              <a:rPr lang="it-IT" dirty="0" err="1"/>
              <a:t>remaining</a:t>
            </a:r>
            <a:r>
              <a:rPr lang="it-IT" dirty="0"/>
              <a:t> </a:t>
            </a:r>
            <a:r>
              <a:rPr lang="it-IT" dirty="0" err="1"/>
              <a:t>pdu_len</a:t>
            </a:r>
            <a:r>
              <a:rPr lang="it-IT" dirty="0"/>
              <a:t>: 3</a:t>
            </a:r>
            <a:br>
              <a:rPr lang="it-IT" dirty="0"/>
            </a:br>
            <a:r>
              <a:rPr lang="it-IT" dirty="0"/>
              <a:t> </a:t>
            </a:r>
          </a:p>
          <a:p>
            <a:r>
              <a:rPr lang="it-IT" dirty="0"/>
              <a:t>[NR_MAC] </a:t>
            </a:r>
            <a:r>
              <a:rPr lang="it-IT" dirty="0" err="1"/>
              <a:t>Invalid</a:t>
            </a:r>
            <a:r>
              <a:rPr lang="it-IT" dirty="0"/>
              <a:t> PDU in 865.13 for RNTI 988F! </a:t>
            </a:r>
            <a:r>
              <a:rPr lang="it-IT" dirty="0" err="1"/>
              <a:t>mac_subheader_len</a:t>
            </a:r>
            <a:r>
              <a:rPr lang="it-IT" dirty="0"/>
              <a:t>: 1, </a:t>
            </a:r>
            <a:r>
              <a:rPr lang="it-IT" dirty="0" err="1"/>
              <a:t>mac_len</a:t>
            </a:r>
            <a:r>
              <a:rPr lang="it-IT" dirty="0"/>
              <a:t>: 8, </a:t>
            </a:r>
            <a:r>
              <a:rPr lang="it-IT" dirty="0" err="1"/>
              <a:t>remaining</a:t>
            </a:r>
            <a:r>
              <a:rPr lang="it-IT" dirty="0"/>
              <a:t> </a:t>
            </a:r>
            <a:r>
              <a:rPr lang="it-IT" dirty="0" err="1"/>
              <a:t>pdu_len</a:t>
            </a:r>
            <a:r>
              <a:rPr lang="it-IT" dirty="0"/>
              <a:t>: 3</a:t>
            </a:r>
          </a:p>
        </p:txBody>
      </p:sp>
    </p:spTree>
    <p:extLst>
      <p:ext uri="{BB962C8B-B14F-4D97-AF65-F5344CB8AC3E}">
        <p14:creationId xmlns:p14="http://schemas.microsoft.com/office/powerpoint/2010/main" val="201322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FA0D-3CDC-5C62-8B83-A7235955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7EF896-0748-9FD2-7017-8B02074224A5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gNB</a:t>
            </a:r>
            <a:r>
              <a:rPr lang="it-IT" dirty="0"/>
              <a:t> Reception </a:t>
            </a:r>
            <a:r>
              <a:rPr lang="it-IT" dirty="0" err="1"/>
              <a:t>Path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B8E221-067E-8D67-6244-CA6BB5C3B94E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MAC PDU </a:t>
            </a:r>
            <a:r>
              <a:rPr lang="it-IT" dirty="0" err="1"/>
              <a:t>Parsing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FE9648A-E6D4-35D3-1FD5-CB5AD45FC092}"/>
              </a:ext>
            </a:extLst>
          </p:cNvPr>
          <p:cNvSpPr txBox="1"/>
          <p:nvPr/>
        </p:nvSpPr>
        <p:spPr>
          <a:xfrm>
            <a:off x="660400" y="1287502"/>
            <a:ext cx="8369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If</a:t>
            </a:r>
            <a:r>
              <a:rPr lang="it-IT" dirty="0"/>
              <a:t> the GF Reception Processing works </a:t>
            </a:r>
            <a:r>
              <a:rPr lang="it-IT" dirty="0" err="1"/>
              <a:t>correctly</a:t>
            </a:r>
            <a:r>
              <a:rPr lang="it-IT" dirty="0"/>
              <a:t> t</a:t>
            </a:r>
            <a:r>
              <a:rPr lang="en-US" dirty="0"/>
              <a:t>he </a:t>
            </a:r>
            <a:r>
              <a:rPr lang="en-US" dirty="0" err="1"/>
              <a:t>gNB</a:t>
            </a:r>
            <a:r>
              <a:rPr lang="en-US" dirty="0"/>
              <a:t> extracts the contents from the MAC PDU.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15FC5D6-6461-8A77-55C5-609A7D6EED97}"/>
              </a:ext>
            </a:extLst>
          </p:cNvPr>
          <p:cNvSpPr txBox="1"/>
          <p:nvPr/>
        </p:nvSpPr>
        <p:spPr>
          <a:xfrm>
            <a:off x="374650" y="2564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HARQ Feedback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CC81D6-280C-644E-5BF7-C8AD7FCE2564}"/>
              </a:ext>
            </a:extLst>
          </p:cNvPr>
          <p:cNvSpPr txBox="1"/>
          <p:nvPr/>
        </p:nvSpPr>
        <p:spPr>
          <a:xfrm>
            <a:off x="660400" y="3059668"/>
            <a:ext cx="1012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gNB</a:t>
            </a:r>
            <a:r>
              <a:rPr lang="it-IT" dirty="0"/>
              <a:t> </a:t>
            </a:r>
            <a:r>
              <a:rPr lang="it-IT" dirty="0" err="1"/>
              <a:t>Sends</a:t>
            </a:r>
            <a:r>
              <a:rPr lang="it-IT" dirty="0"/>
              <a:t> ACK/NACK (TODO)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6B3E65E-2EDA-8AFC-563D-0AAEA802FC54}"/>
              </a:ext>
            </a:extLst>
          </p:cNvPr>
          <p:cNvSpPr txBox="1"/>
          <p:nvPr/>
        </p:nvSpPr>
        <p:spPr>
          <a:xfrm>
            <a:off x="374650" y="4234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UE Handles Feedback from the </a:t>
            </a:r>
            <a:r>
              <a:rPr lang="it-IT" dirty="0" err="1"/>
              <a:t>gNB</a:t>
            </a:r>
            <a:r>
              <a:rPr lang="it-IT" dirty="0"/>
              <a:t> (TODO)</a:t>
            </a:r>
          </a:p>
        </p:txBody>
      </p:sp>
    </p:spTree>
    <p:extLst>
      <p:ext uri="{BB962C8B-B14F-4D97-AF65-F5344CB8AC3E}">
        <p14:creationId xmlns:p14="http://schemas.microsoft.com/office/powerpoint/2010/main" val="404550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A245-44B0-7EFC-139F-8FC2D7C2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69905E16-7878-FFA6-870C-97C5E52259BB}"/>
              </a:ext>
            </a:extLst>
          </p:cNvPr>
          <p:cNvSpPr txBox="1"/>
          <p:nvPr/>
        </p:nvSpPr>
        <p:spPr>
          <a:xfrm>
            <a:off x="203200" y="132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Problem</a:t>
            </a:r>
            <a:r>
              <a:rPr lang="it-IT" dirty="0"/>
              <a:t>, </a:t>
            </a:r>
            <a:r>
              <a:rPr lang="it-IT" dirty="0" err="1"/>
              <a:t>how</a:t>
            </a:r>
            <a:r>
              <a:rPr lang="it-IT" dirty="0"/>
              <a:t> to </a:t>
            </a:r>
            <a:r>
              <a:rPr lang="it-IT" dirty="0" err="1"/>
              <a:t>resolve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(</a:t>
            </a:r>
            <a:r>
              <a:rPr lang="it-IT" dirty="0" err="1"/>
              <a:t>maybe</a:t>
            </a:r>
            <a:r>
              <a:rPr lang="it-IT" dirty="0"/>
              <a:t>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FD6F641-2B90-2704-F427-0D35EE005B9E}"/>
              </a:ext>
            </a:extLst>
          </p:cNvPr>
          <p:cNvSpPr txBox="1"/>
          <p:nvPr/>
        </p:nvSpPr>
        <p:spPr>
          <a:xfrm>
            <a:off x="374650" y="894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TBS (Transport Block Size) Mismatch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2199B1A-752B-0868-E166-A2573F2A1C28}"/>
              </a:ext>
            </a:extLst>
          </p:cNvPr>
          <p:cNvSpPr txBox="1"/>
          <p:nvPr/>
        </p:nvSpPr>
        <p:spPr>
          <a:xfrm>
            <a:off x="660400" y="1287502"/>
            <a:ext cx="8369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gNB</a:t>
            </a:r>
            <a:r>
              <a:rPr lang="en-US" dirty="0"/>
              <a:t> scheduled a grant with a certain TBS, but the UE transmitted with different parameters, because maybe the </a:t>
            </a:r>
            <a:r>
              <a:rPr lang="en-US" dirty="0" err="1"/>
              <a:t>gNB</a:t>
            </a:r>
            <a:r>
              <a:rPr lang="en-US" dirty="0"/>
              <a:t> does not still see the GF configuration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E0F818-3E66-5ADF-817F-6A6C029BB6A9}"/>
              </a:ext>
            </a:extLst>
          </p:cNvPr>
          <p:cNvSpPr txBox="1"/>
          <p:nvPr/>
        </p:nvSpPr>
        <p:spPr>
          <a:xfrm>
            <a:off x="374650" y="2564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Grant-Free </a:t>
            </a:r>
            <a:r>
              <a:rPr lang="it-IT" dirty="0" err="1"/>
              <a:t>Collision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1D40DC6-E5B6-1E63-66F2-656A81A2CB31}"/>
              </a:ext>
            </a:extLst>
          </p:cNvPr>
          <p:cNvSpPr txBox="1"/>
          <p:nvPr/>
        </p:nvSpPr>
        <p:spPr>
          <a:xfrm>
            <a:off x="660400" y="3059668"/>
            <a:ext cx="10128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Grant-Free is active and transmitting on resources that overlap with scheduled grants (GBS), it could corrupt the scheduled PUSCH reception.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71ECB94-00D6-69BA-9F71-3030D7CF256C}"/>
              </a:ext>
            </a:extLst>
          </p:cNvPr>
          <p:cNvSpPr txBox="1"/>
          <p:nvPr/>
        </p:nvSpPr>
        <p:spPr>
          <a:xfrm>
            <a:off x="374650" y="4234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Synchronization</a:t>
            </a:r>
            <a:r>
              <a:rPr lang="it-IT" dirty="0"/>
              <a:t> </a:t>
            </a:r>
            <a:r>
              <a:rPr lang="it-IT" dirty="0" err="1"/>
              <a:t>Issue</a:t>
            </a:r>
            <a:r>
              <a:rPr lang="it-IT" dirty="0"/>
              <a:t> (I </a:t>
            </a:r>
            <a:r>
              <a:rPr lang="it-IT" dirty="0" err="1"/>
              <a:t>don’t</a:t>
            </a:r>
            <a:r>
              <a:rPr lang="it-IT" dirty="0"/>
              <a:t> think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case)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5340615-A122-8AD7-CB4C-C8BB0526766B}"/>
              </a:ext>
            </a:extLst>
          </p:cNvPr>
          <p:cNvSpPr txBox="1"/>
          <p:nvPr/>
        </p:nvSpPr>
        <p:spPr>
          <a:xfrm>
            <a:off x="374650" y="52011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BSR/Buffer Size </a:t>
            </a:r>
            <a:r>
              <a:rPr lang="it-IT" dirty="0" err="1"/>
              <a:t>Issue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5900F2E-1EEB-D5C8-E4EA-24206BF76725}"/>
              </a:ext>
            </a:extLst>
          </p:cNvPr>
          <p:cNvSpPr txBox="1"/>
          <p:nvPr/>
        </p:nvSpPr>
        <p:spPr>
          <a:xfrm>
            <a:off x="660400" y="57093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UE is reporting more data than it actually has, leading to padded or incomplete transmissions.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5340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Mattioli Miceli</dc:creator>
  <cp:lastModifiedBy>Marco Mattioli Miceli</cp:lastModifiedBy>
  <cp:revision>1</cp:revision>
  <dcterms:created xsi:type="dcterms:W3CDTF">2026-01-08T07:12:22Z</dcterms:created>
  <dcterms:modified xsi:type="dcterms:W3CDTF">2026-01-29T15:20:24Z</dcterms:modified>
</cp:coreProperties>
</file>